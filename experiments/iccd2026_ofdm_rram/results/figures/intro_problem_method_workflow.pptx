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19659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411480"/>
            <a:ext cx="2423160" cy="1097280"/>
          </a:xfrm>
          <a:prstGeom prst="roundRect">
            <a:avLst/>
          </a:prstGeom>
          <a:solidFill>
            <a:srgbClr val="FCEBDA"/>
          </a:solidFill>
          <a:ln w="10160">
            <a:solidFill>
              <a:srgbClr val="184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64646"/>
                </a:solidFill>
                <a:latin typeface="Arial"/>
              </a:rPr>
              <a:t>Problem
Single-carrier readout limits
carrier-domain parallelism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6120" y="411480"/>
            <a:ext cx="2606040" cy="1097280"/>
          </a:xfrm>
          <a:prstGeom prst="roundRect">
            <a:avLst/>
          </a:prstGeom>
          <a:solidFill>
            <a:srgbClr val="DCEEFA"/>
          </a:solidFill>
          <a:ln w="10160">
            <a:solidFill>
              <a:srgbClr val="184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64646"/>
                </a:solidFill>
                <a:latin typeface="Arial"/>
              </a:rPr>
              <a:t>Method
Four carrier-local PMOS DACs
+ shared RRAM MVM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411480"/>
            <a:ext cx="2606040" cy="1097280"/>
          </a:xfrm>
          <a:prstGeom prst="roundRect">
            <a:avLst/>
          </a:prstGeom>
          <a:solidFill>
            <a:srgbClr val="DCEEFA"/>
          </a:solidFill>
          <a:ln w="10160">
            <a:solidFill>
              <a:srgbClr val="184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64646"/>
                </a:solidFill>
                <a:latin typeface="Arial"/>
              </a:rPr>
              <a:t>Physical recovery
TIA + four I/Q receiver pairs
+ sampling /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411480"/>
            <a:ext cx="2423160" cy="1097280"/>
          </a:xfrm>
          <a:prstGeom prst="roundRect">
            <a:avLst/>
          </a:prstGeom>
          <a:solidFill>
            <a:srgbClr val="DEF2E8"/>
          </a:solidFill>
          <a:ln w="10160">
            <a:solidFill>
              <a:srgbClr val="184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64646"/>
                </a:solidFill>
                <a:latin typeface="Arial"/>
              </a:rPr>
              <a:t>Evidence boundary
Transient peripheral check
+ mapped-network evaluation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960120"/>
            <a:ext cx="502920" cy="0"/>
          </a:xfrm>
          <a:prstGeom prst="line">
            <a:avLst/>
          </a:prstGeom>
          <a:ln w="1778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52160" y="960120"/>
            <a:ext cx="502920" cy="0"/>
          </a:xfrm>
          <a:prstGeom prst="line">
            <a:avLst/>
          </a:prstGeom>
          <a:ln w="1778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961120" y="960120"/>
            <a:ext cx="502920" cy="0"/>
          </a:xfrm>
          <a:prstGeom prst="line">
            <a:avLst/>
          </a:prstGeom>
          <a:ln w="1778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" y="162763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464646"/>
                </a:solidFill>
                <a:latin typeface="Arial"/>
              </a:rPr>
              <a:t>Carrier-concurrent input 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62763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464646"/>
                </a:solidFill>
                <a:latin typeface="Arial"/>
              </a:rPr>
              <a:t>Physical modulation and coherent 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2763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464646"/>
                </a:solidFill>
                <a:latin typeface="Arial"/>
              </a:rPr>
              <a:t>Separate circuit and array-scale claims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