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8497A"/>
                </a:solidFill>
                <a:latin typeface="Arial"/>
              </a:rPr>
              <a:t>Physical Four-Carrier Modulation and Readout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20624"/>
            <a:ext cx="1152144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505050"/>
                </a:solidFill>
                <a:latin typeface="Arial"/>
              </a:rPr>
              <a:t>45 nm compact-model transient implementation; 128×128 mapped crossbar is evaluated separately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51560"/>
            <a:ext cx="1143000" cy="731520"/>
          </a:xfrm>
          <a:prstGeom prst="roundRect">
            <a:avLst/>
          </a:prstGeom>
          <a:solidFill>
            <a:srgbClr val="F0F2F4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05050"/>
                </a:solidFill>
                <a:latin typeface="Arial"/>
              </a:rPr>
              <a:t>2-bit input
00 / 01 / 10 /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7360" y="868680"/>
            <a:ext cx="1417320" cy="1097280"/>
          </a:xfrm>
          <a:prstGeom prst="roundRect">
            <a:avLst/>
          </a:prstGeom>
          <a:solidFill>
            <a:srgbClr val="FCEBDA"/>
          </a:solidFill>
          <a:ln w="10160">
            <a:solidFill>
              <a:srgbClr val="C25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05050"/>
                </a:solidFill>
                <a:latin typeface="Arial"/>
              </a:rPr>
              <a:t>Four PMOS
current-cell DACs
250/500/750 MHz/1 GHz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2148840"/>
            <a:ext cx="1417320" cy="658368"/>
          </a:xfrm>
          <a:prstGeom prst="roundRect">
            <a:avLst/>
          </a:prstGeom>
          <a:solidFill>
            <a:srgbClr val="DEEFFA"/>
          </a:solidFill>
          <a:ln w="10160">
            <a:solidFill>
              <a:srgbClr val="20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05050"/>
                </a:solidFill>
                <a:latin typeface="Arial"/>
              </a:rPr>
              <a:t>Ring LO +
90° phase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051560"/>
            <a:ext cx="1234440" cy="731520"/>
          </a:xfrm>
          <a:prstGeom prst="roundRect">
            <a:avLst/>
          </a:prstGeom>
          <a:solidFill>
            <a:srgbClr val="FCEBDA"/>
          </a:solidFill>
          <a:ln w="10160">
            <a:solidFill>
              <a:srgbClr val="C25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05050"/>
                </a:solidFill>
                <a:latin typeface="Arial"/>
              </a:rPr>
              <a:t>Wordline
summing driver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7488" y="804672"/>
            <a:ext cx="1234440" cy="1234440"/>
          </a:xfrm>
          <a:prstGeom prst="roundRect">
            <a:avLst/>
          </a:prstGeom>
          <a:solidFill>
            <a:srgbClr val="DEF2E8"/>
          </a:solidFill>
          <a:ln w="10160">
            <a:solidFill>
              <a:srgbClr val="2A7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05050"/>
                </a:solidFill>
                <a:latin typeface="Arial"/>
              </a:rPr>
              <a:t>RRAM crossbar
128 × 128
conductance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051560"/>
            <a:ext cx="1051560" cy="731520"/>
          </a:xfrm>
          <a:prstGeom prst="roundRect">
            <a:avLst/>
          </a:prstGeom>
          <a:solidFill>
            <a:srgbClr val="FCEBDA"/>
          </a:solidFill>
          <a:ln w="10160">
            <a:solidFill>
              <a:srgbClr val="C25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05050"/>
                </a:solidFill>
                <a:latin typeface="Arial"/>
              </a:rPr>
              <a:t>Selected BL
TIA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0" y="1417320"/>
            <a:ext cx="274320" cy="0"/>
          </a:xfrm>
          <a:prstGeom prst="line">
            <a:avLst/>
          </a:prstGeom>
          <a:ln w="15240">
            <a:solidFill>
              <a:srgbClr val="184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154680" y="1417320"/>
            <a:ext cx="301752" cy="0"/>
          </a:xfrm>
          <a:prstGeom prst="line">
            <a:avLst/>
          </a:prstGeom>
          <a:ln w="15240">
            <a:solidFill>
              <a:srgbClr val="184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90872" y="1417320"/>
            <a:ext cx="356616" cy="0"/>
          </a:xfrm>
          <a:prstGeom prst="line">
            <a:avLst/>
          </a:prstGeom>
          <a:ln w="15240">
            <a:solidFill>
              <a:srgbClr val="184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81928" y="1417320"/>
            <a:ext cx="347472" cy="0"/>
          </a:xfrm>
          <a:prstGeom prst="line">
            <a:avLst/>
          </a:prstGeom>
          <a:ln w="15240">
            <a:solidFill>
              <a:srgbClr val="184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450592" y="1965960"/>
            <a:ext cx="0" cy="182880"/>
          </a:xfrm>
          <a:prstGeom prst="line">
            <a:avLst/>
          </a:prstGeom>
          <a:ln w="15240">
            <a:solidFill>
              <a:srgbClr val="206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27632" y="2834640"/>
            <a:ext cx="1645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206EAA"/>
                </a:solidFill>
                <a:latin typeface="Arial"/>
              </a:rPr>
              <a:t>shared LO/reference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713232"/>
            <a:ext cx="356616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18497A"/>
                </a:solidFill>
                <a:latin typeface="Arial"/>
              </a:rPr>
              <a:t>Four carrier-selective I/Q receiver pairs (8 mixers)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1005840"/>
            <a:ext cx="749808" cy="658368"/>
          </a:xfrm>
          <a:prstGeom prst="roundRect">
            <a:avLst/>
          </a:prstGeom>
          <a:solidFill>
            <a:srgbClr val="DEEFFA"/>
          </a:solidFill>
          <a:ln w="10160">
            <a:solidFill>
              <a:srgbClr val="20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1">
                <a:solidFill>
                  <a:srgbClr val="505050"/>
                </a:solidFill>
                <a:latin typeface="Arial"/>
              </a:rPr>
              <a:t>250 MHz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1005840"/>
            <a:ext cx="1060704" cy="658368"/>
          </a:xfrm>
          <a:prstGeom prst="roundRect">
            <a:avLst/>
          </a:prstGeom>
          <a:solidFill>
            <a:srgbClr val="DEEFFA"/>
          </a:solidFill>
          <a:ln w="10160">
            <a:solidFill>
              <a:srgbClr val="20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0">
                <a:solidFill>
                  <a:srgbClr val="505050"/>
                </a:solidFill>
                <a:latin typeface="Arial"/>
              </a:rPr>
              <a:t>I/Q Gilbert
mixers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22992" y="1005840"/>
            <a:ext cx="1060704" cy="658368"/>
          </a:xfrm>
          <a:prstGeom prst="roundRect">
            <a:avLst/>
          </a:prstGeom>
          <a:solidFill>
            <a:srgbClr val="F0F2F4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0">
                <a:solidFill>
                  <a:srgbClr val="505050"/>
                </a:solidFill>
                <a:latin typeface="Arial"/>
              </a:rPr>
              <a:t>LP integration
+ S/H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84864" y="1005840"/>
            <a:ext cx="438912" cy="658368"/>
          </a:xfrm>
          <a:prstGeom prst="roundRect">
            <a:avLst/>
          </a:prstGeom>
          <a:solidFill>
            <a:srgbClr val="FCEBDA"/>
          </a:solidFill>
          <a:ln w="10160">
            <a:solidFill>
              <a:srgbClr val="C25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1">
                <a:solidFill>
                  <a:srgbClr val="505050"/>
                </a:solidFill>
                <a:latin typeface="Arial"/>
              </a:rPr>
              <a:t>1b
D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680960" y="1335024"/>
            <a:ext cx="292608" cy="82296"/>
          </a:xfrm>
          <a:prstGeom prst="line">
            <a:avLst/>
          </a:prstGeom>
          <a:ln w="10160">
            <a:solidFill>
              <a:srgbClr val="C25D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723376" y="1335024"/>
            <a:ext cx="219456" cy="0"/>
          </a:xfrm>
          <a:prstGeom prst="line">
            <a:avLst/>
          </a:prstGeom>
          <a:ln w="15240">
            <a:solidFill>
              <a:srgbClr val="184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03536" y="1335024"/>
            <a:ext cx="219456" cy="0"/>
          </a:xfrm>
          <a:prstGeom prst="line">
            <a:avLst/>
          </a:prstGeom>
          <a:ln w="15240">
            <a:solidFill>
              <a:srgbClr val="184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283696" y="1335024"/>
            <a:ext cx="201168" cy="0"/>
          </a:xfrm>
          <a:prstGeom prst="line">
            <a:avLst/>
          </a:prstGeom>
          <a:ln w="15240">
            <a:solidFill>
              <a:srgbClr val="184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973568" y="1993392"/>
            <a:ext cx="749808" cy="658368"/>
          </a:xfrm>
          <a:prstGeom prst="roundRect">
            <a:avLst/>
          </a:prstGeom>
          <a:solidFill>
            <a:srgbClr val="DEEFFA"/>
          </a:solidFill>
          <a:ln w="10160">
            <a:solidFill>
              <a:srgbClr val="20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1">
                <a:solidFill>
                  <a:srgbClr val="505050"/>
                </a:solidFill>
                <a:latin typeface="Arial"/>
              </a:rPr>
              <a:t>500 MHz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42832" y="1993392"/>
            <a:ext cx="1060704" cy="658368"/>
          </a:xfrm>
          <a:prstGeom prst="roundRect">
            <a:avLst/>
          </a:prstGeom>
          <a:solidFill>
            <a:srgbClr val="DEEFFA"/>
          </a:solidFill>
          <a:ln w="10160">
            <a:solidFill>
              <a:srgbClr val="20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0">
                <a:solidFill>
                  <a:srgbClr val="505050"/>
                </a:solidFill>
                <a:latin typeface="Arial"/>
              </a:rPr>
              <a:t>I/Q Gilbert
mixers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22992" y="1993392"/>
            <a:ext cx="1060704" cy="658368"/>
          </a:xfrm>
          <a:prstGeom prst="roundRect">
            <a:avLst/>
          </a:prstGeom>
          <a:solidFill>
            <a:srgbClr val="F0F2F4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0">
                <a:solidFill>
                  <a:srgbClr val="505050"/>
                </a:solidFill>
                <a:latin typeface="Arial"/>
              </a:rPr>
              <a:t>LP integration
+ S/H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84864" y="1993392"/>
            <a:ext cx="438912" cy="658368"/>
          </a:xfrm>
          <a:prstGeom prst="roundRect">
            <a:avLst/>
          </a:prstGeom>
          <a:solidFill>
            <a:srgbClr val="FCEBDA"/>
          </a:solidFill>
          <a:ln w="10160">
            <a:solidFill>
              <a:srgbClr val="C25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1">
                <a:solidFill>
                  <a:srgbClr val="505050"/>
                </a:solidFill>
                <a:latin typeface="Arial"/>
              </a:rPr>
              <a:t>1b
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80960" y="1417320"/>
            <a:ext cx="292608" cy="905256"/>
          </a:xfrm>
          <a:prstGeom prst="line">
            <a:avLst/>
          </a:prstGeom>
          <a:ln w="10160">
            <a:solidFill>
              <a:srgbClr val="C25D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723376" y="2322576"/>
            <a:ext cx="219456" cy="0"/>
          </a:xfrm>
          <a:prstGeom prst="line">
            <a:avLst/>
          </a:prstGeom>
          <a:ln w="15240">
            <a:solidFill>
              <a:srgbClr val="184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003536" y="2322576"/>
            <a:ext cx="219456" cy="0"/>
          </a:xfrm>
          <a:prstGeom prst="line">
            <a:avLst/>
          </a:prstGeom>
          <a:ln w="15240">
            <a:solidFill>
              <a:srgbClr val="184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283696" y="2322576"/>
            <a:ext cx="201168" cy="0"/>
          </a:xfrm>
          <a:prstGeom prst="line">
            <a:avLst/>
          </a:prstGeom>
          <a:ln w="15240">
            <a:solidFill>
              <a:srgbClr val="184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973568" y="2980944"/>
            <a:ext cx="749808" cy="658368"/>
          </a:xfrm>
          <a:prstGeom prst="roundRect">
            <a:avLst/>
          </a:prstGeom>
          <a:solidFill>
            <a:srgbClr val="DEEFFA"/>
          </a:solidFill>
          <a:ln w="10160">
            <a:solidFill>
              <a:srgbClr val="20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1">
                <a:solidFill>
                  <a:srgbClr val="505050"/>
                </a:solidFill>
                <a:latin typeface="Arial"/>
              </a:rPr>
              <a:t>750 MHz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42832" y="2980944"/>
            <a:ext cx="1060704" cy="658368"/>
          </a:xfrm>
          <a:prstGeom prst="roundRect">
            <a:avLst/>
          </a:prstGeom>
          <a:solidFill>
            <a:srgbClr val="DEEFFA"/>
          </a:solidFill>
          <a:ln w="10160">
            <a:solidFill>
              <a:srgbClr val="20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0">
                <a:solidFill>
                  <a:srgbClr val="505050"/>
                </a:solidFill>
                <a:latin typeface="Arial"/>
              </a:rPr>
              <a:t>I/Q Gilbert
mixers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22992" y="2980944"/>
            <a:ext cx="1060704" cy="658368"/>
          </a:xfrm>
          <a:prstGeom prst="roundRect">
            <a:avLst/>
          </a:prstGeom>
          <a:solidFill>
            <a:srgbClr val="F0F2F4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0">
                <a:solidFill>
                  <a:srgbClr val="505050"/>
                </a:solidFill>
                <a:latin typeface="Arial"/>
              </a:rPr>
              <a:t>LP integration
+ S/H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84864" y="2980944"/>
            <a:ext cx="438912" cy="658368"/>
          </a:xfrm>
          <a:prstGeom prst="roundRect">
            <a:avLst/>
          </a:prstGeom>
          <a:solidFill>
            <a:srgbClr val="FCEBDA"/>
          </a:solidFill>
          <a:ln w="10160">
            <a:solidFill>
              <a:srgbClr val="C25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1">
                <a:solidFill>
                  <a:srgbClr val="505050"/>
                </a:solidFill>
                <a:latin typeface="Arial"/>
              </a:rPr>
              <a:t>1b
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680960" y="1417320"/>
            <a:ext cx="292608" cy="1892808"/>
          </a:xfrm>
          <a:prstGeom prst="line">
            <a:avLst/>
          </a:prstGeom>
          <a:ln w="10160">
            <a:solidFill>
              <a:srgbClr val="C25D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723376" y="3310128"/>
            <a:ext cx="219456" cy="0"/>
          </a:xfrm>
          <a:prstGeom prst="line">
            <a:avLst/>
          </a:prstGeom>
          <a:ln w="15240">
            <a:solidFill>
              <a:srgbClr val="184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003536" y="3310128"/>
            <a:ext cx="219456" cy="0"/>
          </a:xfrm>
          <a:prstGeom prst="line">
            <a:avLst/>
          </a:prstGeom>
          <a:ln w="15240">
            <a:solidFill>
              <a:srgbClr val="184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283696" y="3310128"/>
            <a:ext cx="201168" cy="0"/>
          </a:xfrm>
          <a:prstGeom prst="line">
            <a:avLst/>
          </a:prstGeom>
          <a:ln w="15240">
            <a:solidFill>
              <a:srgbClr val="184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973568" y="3968496"/>
            <a:ext cx="749808" cy="658368"/>
          </a:xfrm>
          <a:prstGeom prst="roundRect">
            <a:avLst/>
          </a:prstGeom>
          <a:solidFill>
            <a:srgbClr val="DEEFFA"/>
          </a:solidFill>
          <a:ln w="10160">
            <a:solidFill>
              <a:srgbClr val="20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1">
                <a:solidFill>
                  <a:srgbClr val="505050"/>
                </a:solidFill>
                <a:latin typeface="Arial"/>
              </a:rPr>
              <a:t>1 GHz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42832" y="3968496"/>
            <a:ext cx="1060704" cy="658368"/>
          </a:xfrm>
          <a:prstGeom prst="roundRect">
            <a:avLst/>
          </a:prstGeom>
          <a:solidFill>
            <a:srgbClr val="DEEFFA"/>
          </a:solidFill>
          <a:ln w="10160">
            <a:solidFill>
              <a:srgbClr val="20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0">
                <a:solidFill>
                  <a:srgbClr val="505050"/>
                </a:solidFill>
                <a:latin typeface="Arial"/>
              </a:rPr>
              <a:t>I/Q Gilbert
mixers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22992" y="3968496"/>
            <a:ext cx="1060704" cy="658368"/>
          </a:xfrm>
          <a:prstGeom prst="roundRect">
            <a:avLst/>
          </a:prstGeom>
          <a:solidFill>
            <a:srgbClr val="F0F2F4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0">
                <a:solidFill>
                  <a:srgbClr val="505050"/>
                </a:solidFill>
                <a:latin typeface="Arial"/>
              </a:rPr>
              <a:t>LP integration
+ S/H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84864" y="3968496"/>
            <a:ext cx="438912" cy="658368"/>
          </a:xfrm>
          <a:prstGeom prst="roundRect">
            <a:avLst/>
          </a:prstGeom>
          <a:solidFill>
            <a:srgbClr val="FCEBDA"/>
          </a:solidFill>
          <a:ln w="10160">
            <a:solidFill>
              <a:srgbClr val="C25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30" b="1">
                <a:solidFill>
                  <a:srgbClr val="505050"/>
                </a:solidFill>
                <a:latin typeface="Arial"/>
              </a:rPr>
              <a:t>1b
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680960" y="1417320"/>
            <a:ext cx="292608" cy="2880360"/>
          </a:xfrm>
          <a:prstGeom prst="line">
            <a:avLst/>
          </a:prstGeom>
          <a:ln w="10160">
            <a:solidFill>
              <a:srgbClr val="C25D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723376" y="4297680"/>
            <a:ext cx="219456" cy="0"/>
          </a:xfrm>
          <a:prstGeom prst="line">
            <a:avLst/>
          </a:prstGeom>
          <a:ln w="15240">
            <a:solidFill>
              <a:srgbClr val="184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003536" y="4297680"/>
            <a:ext cx="219456" cy="0"/>
          </a:xfrm>
          <a:prstGeom prst="line">
            <a:avLst/>
          </a:prstGeom>
          <a:ln w="15240">
            <a:solidFill>
              <a:srgbClr val="184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283696" y="4297680"/>
            <a:ext cx="201168" cy="0"/>
          </a:xfrm>
          <a:prstGeom prst="line">
            <a:avLst/>
          </a:prstGeom>
          <a:ln w="15240">
            <a:solidFill>
              <a:srgbClr val="184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7973568" y="5257800"/>
            <a:ext cx="1417320" cy="676656"/>
          </a:xfrm>
          <a:prstGeom prst="roundRect">
            <a:avLst/>
          </a:prstGeom>
          <a:solidFill>
            <a:srgbClr val="F0F2F4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05050"/>
                </a:solidFill>
                <a:latin typeface="Arial"/>
              </a:rPr>
              <a:t>Symbol
de-mapping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74352" y="5257800"/>
            <a:ext cx="1417320" cy="676656"/>
          </a:xfrm>
          <a:prstGeom prst="roundRect">
            <a:avLst/>
          </a:prstGeom>
          <a:solidFill>
            <a:srgbClr val="F0F2F4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505050"/>
                </a:solidFill>
                <a:latin typeface="Arial"/>
              </a:rPr>
              <a:t>Digital accumulation
+ activation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320272" y="5257800"/>
            <a:ext cx="603504" cy="676656"/>
          </a:xfrm>
          <a:prstGeom prst="roundRect">
            <a:avLst/>
          </a:prstGeom>
          <a:solidFill>
            <a:srgbClr val="F0F2F4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505050"/>
                </a:solidFill>
                <a:latin typeface="Arial"/>
              </a:rPr>
              <a:t>Layer
control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8668512" y="4983480"/>
            <a:ext cx="3035808" cy="274320"/>
          </a:xfrm>
          <a:prstGeom prst="line">
            <a:avLst/>
          </a:prstGeom>
          <a:ln w="101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90888" y="5596128"/>
            <a:ext cx="283464" cy="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091672" y="5596128"/>
            <a:ext cx="228600" cy="0"/>
          </a:xfrm>
          <a:prstGeom prst="line">
            <a:avLst/>
          </a:prstGeom>
          <a:ln w="1524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11480" y="6272784"/>
            <a:ext cx="113385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30" b="0">
                <a:solidFill>
                  <a:srgbClr val="505050"/>
                </a:solidFill>
                <a:latin typeface="Arial"/>
              </a:rPr>
              <a:t>Solid blocks: transistor-level peripheral implementation. Crossbar/network mapping: separate system-level evaluation with the same carrier organization.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